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Survey vs Ground Level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NFHS-5 (S%)</c:v>
                </c:pt>
              </c:strCache>
            </c:strRef>
          </c:tx>
          <c:spPr>
            <a:solidFill>
              <a:srgbClr val="0D1B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Sanitation</c:v>
                  </c:pt>
                  <c:pt idx="1">
                    <c:v>Water</c:v>
                  </c:pt>
                  <c:pt idx="2">
                    <c:v>Electricity</c:v>
                  </c:pt>
                  <c:pt idx="3">
                    <c:v>Nutrition</c:v>
                  </c:pt>
                  <c:pt idx="4">
                    <c:v>Internet</c:v>
                  </c:pt>
                  <c:pt idx="5">
                    <c:v>Education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75.86</c:v>
                </c:pt>
                <c:pt idx="1">
                  <c:v>99.42</c:v>
                </c:pt>
                <c:pt idx="2">
                  <c:v>99.42</c:v>
                </c:pt>
                <c:pt idx="3">
                  <c:v>80.19</c:v>
                </c:pt>
                <c:pt idx="4">
                  <c:v>56.78</c:v>
                </c:pt>
                <c:pt idx="5">
                  <c:v>84.97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G-Form (G%)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Sanitation</c:v>
                  </c:pt>
                  <c:pt idx="1">
                    <c:v>Water</c:v>
                  </c:pt>
                  <c:pt idx="2">
                    <c:v>Electricity</c:v>
                  </c:pt>
                  <c:pt idx="3">
                    <c:v>Nutrition</c:v>
                  </c:pt>
                  <c:pt idx="4">
                    <c:v>Internet</c:v>
                  </c:pt>
                  <c:pt idx="5">
                    <c:v>Education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76.43</c:v>
                </c:pt>
                <c:pt idx="1">
                  <c:v>96.43</c:v>
                </c:pt>
                <c:pt idx="2">
                  <c:v>97.38</c:v>
                </c:pt>
                <c:pt idx="3">
                  <c:v>81.48</c:v>
                </c:pt>
                <c:pt idx="4">
                  <c:v>57.62</c:v>
                </c:pt>
                <c:pt idx="5">
                  <c:v>94.05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image" Target="../media/image-10-3.png"/><Relationship Id="rId5" Type="http://schemas.openxmlformats.org/officeDocument/2006/relationships/image" Target="../media/image-10-4.png"/><Relationship Id="rId6" Type="http://schemas.openxmlformats.org/officeDocument/2006/relationships/image" Target="../media/image-10-5.png"/><Relationship Id="rId7" Type="http://schemas.openxmlformats.org/officeDocument/2006/relationships/image" Target="../media/image-10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D4F47">
              <a:alpha val="70000"/>
            </a:srgbClr>
          </a:solidFill>
          <a:ln w="12700">
            <a:solidFill>
              <a:srgbClr val="0D4F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1828800" cy="1828800"/>
          </a:xfrm>
          <a:prstGeom prst="ellipse">
            <a:avLst/>
          </a:prstGeom>
          <a:solidFill>
            <a:srgbClr val="0D4F47">
              <a:alpha val="50000"/>
            </a:srgbClr>
          </a:solidFill>
          <a:ln w="12700">
            <a:solidFill>
              <a:srgbClr val="0D4F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THE RELIABILITY GAP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Between Large-Scale Survey Data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Ground Reality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65760" y="2788920"/>
            <a:ext cx="10972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926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Science–Based Analysis Using Normalization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Chengalpattu District, Tamil Nadu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3840480"/>
            <a:ext cx="8412480" cy="914400"/>
          </a:xfrm>
          <a:prstGeom prst="rect">
            <a:avLst/>
          </a:prstGeom>
          <a:solidFill>
            <a:srgbClr val="0D4F47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Jagadish V  | 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Rohith S  | 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Ananthanarayana 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CSE-DSBS  •  SRMIST, Kattankulathur  •  2024–25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54864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188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3716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17043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1600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survey data reliability matters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" y="2304288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" y="2304288"/>
            <a:ext cx="54864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9768" y="23957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57860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14400" y="23774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914400" y="28072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measure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0040" y="3511296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0040" y="3511296"/>
            <a:ext cx="54864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29768" y="360273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785616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4400" y="358444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914400" y="401421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NFHS-5 + G-Form methodology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800600" y="109728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800600" y="1097280"/>
            <a:ext cx="54864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910328" y="1188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37160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94960" y="117043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394960" y="1600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Normalization, RG, RGI formulas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800600" y="2304288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800600" y="2304288"/>
            <a:ext cx="54864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910328" y="23957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2578608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394960" y="23774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5394960" y="28072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Chengalpattu district findings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4800600" y="3511296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800600" y="3511296"/>
            <a:ext cx="54864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4910328" y="360273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3785616"/>
            <a:ext cx="320040" cy="32004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394960" y="358444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5394960" y="401421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policy implications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0700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71907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67335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relies heavily on large-scale national surveys (NFHS, Census) for policy decisions.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37744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3317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surveys report high coverage for electricity, water &amp; sanitation.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03580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99008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do these numbers truly match what people experience on the ground?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69417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64845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gap — if real — can cause misallocation of government resources.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4206240" cy="1645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11704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NFHS-5 Reports for Kancheepuram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15544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99.4%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54880" y="20574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0" y="15544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99.4%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26480" y="20574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Water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98080" y="15544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75.9%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498080" y="20574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2880360"/>
            <a:ext cx="42062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2971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338328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official large-scale survey data (NFHS-5) accurately reflect the ground-level reality experienced by households in Chengalpattu district?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AREA — CHENGALPATTU DISTRICT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5303520" cy="1234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155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Chengalpattu?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Bifurcated from Kancheepuram in 2019 — same year NFHS-5 data was collected. Mix of urban (Tambaram, Pallavaram) and rural (Cheyyur, Uthiramerur) blocks provides rich comparison.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23957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Blocks Studied: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23957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🟩 Urban  🟦 Rural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788920"/>
            <a:ext cx="2057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" y="284378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Chengalpattu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2788920"/>
            <a:ext cx="2057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23744" y="284378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Cheyyur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26864" y="2788920"/>
            <a:ext cx="20574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0016" y="284378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Kattankulathur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03136" y="2788920"/>
            <a:ext cx="20574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76288" y="284378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Kundrathur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291840"/>
            <a:ext cx="2057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7472" y="334670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Maduranthagam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50592" y="3291840"/>
            <a:ext cx="20574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23744" y="334670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Maraimalai Nagar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26864" y="3291840"/>
            <a:ext cx="20574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0016" y="334670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Pallavaram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03136" y="3291840"/>
            <a:ext cx="20574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76288" y="334670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Thomas Mount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794760"/>
            <a:ext cx="20574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47472" y="384962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Tambaram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50592" y="3794760"/>
            <a:ext cx="2057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523744" y="384962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Thiruporur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26864" y="3794760"/>
            <a:ext cx="2057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00016" y="384962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Uthiramerur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03136" y="3794760"/>
            <a:ext cx="20574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76288" y="384962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Vandalur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60720" y="1051560"/>
            <a:ext cx="3108960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760720" y="107899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420</a:t>
            </a:r>
            <a:endParaRPr lang="en-US" sz="4800" dirty="0"/>
          </a:p>
        </p:txBody>
      </p:sp>
      <p:sp>
        <p:nvSpPr>
          <p:cNvPr id="35" name="Text 33"/>
          <p:cNvSpPr/>
          <p:nvPr/>
        </p:nvSpPr>
        <p:spPr>
          <a:xfrm>
            <a:off x="5760720" y="17373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G-Form Responses Collected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COLLECTION METHODOLOGY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1148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11155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SCALE SURVEY DATA  (S)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1664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NFHS-5 Kancheepuram District Factsheet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19933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(Parent district of Chengalpattu — bifurcated 2019)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7472" y="2395728"/>
            <a:ext cx="39319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24414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417320" y="2441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75.86%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286000" y="24414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sanitation facility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47472" y="2779776"/>
            <a:ext cx="3931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282549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417320" y="282549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99.42%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286000" y="282549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drinking water source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47472" y="3163824"/>
            <a:ext cx="39319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320954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417320" y="320954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99.42%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286000" y="32095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 with electricity connection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47472" y="3547872"/>
            <a:ext cx="3931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35935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417320" y="359359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80.19%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286000" y="35935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100 − underweight children %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47472" y="3931920"/>
            <a:ext cx="39319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39776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417320" y="39776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56.78%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286000" y="39776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with 10+ yrs schooling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47472" y="4315968"/>
            <a:ext cx="3931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1480" y="43616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417320" y="43616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84.97%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2286000" y="43616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school attendance %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663440" y="1051560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663440" y="1051560"/>
            <a:ext cx="42062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347472" cy="347472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5138928" y="11155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LEVEL DATA  (G)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4800600" y="16642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Google Form Survey — Chengalpattu Residents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4800600" y="19933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 responses across 12 blocks (urban + rural)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4736592" y="2395728"/>
            <a:ext cx="40233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800600" y="24414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Sanitation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5806440" y="2441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76.43%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6675120" y="24414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&amp; regularly use toilet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4736592" y="2779776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800600" y="282549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000" dirty="0"/>
          </a:p>
        </p:txBody>
      </p:sp>
      <p:sp>
        <p:nvSpPr>
          <p:cNvPr id="46" name="Text 42"/>
          <p:cNvSpPr/>
          <p:nvPr/>
        </p:nvSpPr>
        <p:spPr>
          <a:xfrm>
            <a:off x="5806440" y="282549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96.43%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6675120" y="282549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Piped water (tap at home)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4736592" y="3163824"/>
            <a:ext cx="40233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4800600" y="320954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</a:t>
            </a:r>
            <a:endParaRPr lang="en-US" sz="1000" dirty="0"/>
          </a:p>
        </p:txBody>
      </p:sp>
      <p:sp>
        <p:nvSpPr>
          <p:cNvPr id="50" name="Text 46"/>
          <p:cNvSpPr/>
          <p:nvPr/>
        </p:nvSpPr>
        <p:spPr>
          <a:xfrm>
            <a:off x="5806440" y="320954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97.38%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675120" y="32095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electricity connection</a:t>
            </a:r>
            <a:endParaRPr lang="en-US" sz="900" dirty="0"/>
          </a:p>
        </p:txBody>
      </p:sp>
      <p:sp>
        <p:nvSpPr>
          <p:cNvPr id="52" name="Shape 48"/>
          <p:cNvSpPr/>
          <p:nvPr/>
        </p:nvSpPr>
        <p:spPr>
          <a:xfrm>
            <a:off x="4736592" y="3547872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4800600" y="35935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5806440" y="359359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81.48%</a:t>
            </a:r>
            <a:endParaRPr lang="en-US" sz="1000" dirty="0"/>
          </a:p>
        </p:txBody>
      </p:sp>
      <p:sp>
        <p:nvSpPr>
          <p:cNvPr id="55" name="Text 51"/>
          <p:cNvSpPr/>
          <p:nvPr/>
        </p:nvSpPr>
        <p:spPr>
          <a:xfrm>
            <a:off x="6675120" y="35935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get 3 meals/day</a:t>
            </a:r>
            <a:endParaRPr lang="en-US" sz="900" dirty="0"/>
          </a:p>
        </p:txBody>
      </p:sp>
      <p:sp>
        <p:nvSpPr>
          <p:cNvPr id="56" name="Shape 52"/>
          <p:cNvSpPr/>
          <p:nvPr/>
        </p:nvSpPr>
        <p:spPr>
          <a:xfrm>
            <a:off x="4736592" y="3931920"/>
            <a:ext cx="40233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4800600" y="39776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000" dirty="0"/>
          </a:p>
        </p:txBody>
      </p:sp>
      <p:sp>
        <p:nvSpPr>
          <p:cNvPr id="58" name="Text 54"/>
          <p:cNvSpPr/>
          <p:nvPr/>
        </p:nvSpPr>
        <p:spPr>
          <a:xfrm>
            <a:off x="5806440" y="39776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57.62%</a:t>
            </a:r>
            <a:endParaRPr lang="en-US" sz="1000" dirty="0"/>
          </a:p>
        </p:txBody>
      </p:sp>
      <p:sp>
        <p:nvSpPr>
          <p:cNvPr id="59" name="Text 55"/>
          <p:cNvSpPr/>
          <p:nvPr/>
        </p:nvSpPr>
        <p:spPr>
          <a:xfrm>
            <a:off x="6675120" y="39776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or mobile data access</a:t>
            </a:r>
            <a:endParaRPr lang="en-US" sz="900" dirty="0"/>
          </a:p>
        </p:txBody>
      </p:sp>
      <p:sp>
        <p:nvSpPr>
          <p:cNvPr id="60" name="Shape 56"/>
          <p:cNvSpPr/>
          <p:nvPr/>
        </p:nvSpPr>
        <p:spPr>
          <a:xfrm>
            <a:off x="4736592" y="4315968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4800600" y="43616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000" dirty="0"/>
          </a:p>
        </p:txBody>
      </p:sp>
      <p:sp>
        <p:nvSpPr>
          <p:cNvPr id="62" name="Text 58"/>
          <p:cNvSpPr/>
          <p:nvPr/>
        </p:nvSpPr>
        <p:spPr>
          <a:xfrm>
            <a:off x="5806440" y="43616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94.05%</a:t>
            </a:r>
            <a:endParaRPr lang="en-US" sz="1000" dirty="0"/>
          </a:p>
        </p:txBody>
      </p:sp>
      <p:sp>
        <p:nvSpPr>
          <p:cNvPr id="63" name="Text 59"/>
          <p:cNvSpPr/>
          <p:nvPr/>
        </p:nvSpPr>
        <p:spPr>
          <a:xfrm>
            <a:off x="6675120" y="43616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10th std or above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6 DEVELOPMENT INDICATORS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278892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78992"/>
            <a:ext cx="278892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7043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1188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1719072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has a functional toilet?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224942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NFHS-5: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97280" y="224942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75.86%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847088" y="224942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G-Form: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514600" y="2249424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76.43%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00400" y="1078992"/>
            <a:ext cx="278892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1078992"/>
            <a:ext cx="278892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70432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30752" y="1188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Drinking Water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291840" y="1719072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receives clean piped water?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291840" y="224942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NFHS-5: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023360" y="224942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99.42%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773168" y="224942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G-Form: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5440680" y="2249424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96.43%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26480" y="1078992"/>
            <a:ext cx="278892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26480" y="1078992"/>
            <a:ext cx="278892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70432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656832" y="1188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217920" y="1719072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has working electricity connection?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217920" y="224942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NFHS-5: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949440" y="224942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99.42%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7699248" y="224942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G-Form: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8366760" y="2249424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97.38%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274320" y="3017520"/>
            <a:ext cx="278892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274320" y="3017520"/>
            <a:ext cx="278892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108960"/>
            <a:ext cx="365760" cy="36576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04672" y="312724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Nutrition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365760" y="365760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under 5 get 3 meals/day?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365760" y="418795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NFHS-5: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1097280" y="418795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80.19%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1847088" y="41879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G-Form: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2514600" y="418795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81.48%</a:t>
            </a:r>
            <a:endParaRPr lang="en-US" sz="1300" dirty="0"/>
          </a:p>
        </p:txBody>
      </p:sp>
      <p:sp>
        <p:nvSpPr>
          <p:cNvPr id="40" name="Shape 34"/>
          <p:cNvSpPr/>
          <p:nvPr/>
        </p:nvSpPr>
        <p:spPr>
          <a:xfrm>
            <a:off x="3200400" y="3017520"/>
            <a:ext cx="278892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3200400" y="3017520"/>
            <a:ext cx="278892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3108960"/>
            <a:ext cx="365760" cy="36576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3730752" y="312724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Access</a:t>
            </a:r>
            <a:endParaRPr lang="en-US" sz="1300" dirty="0"/>
          </a:p>
        </p:txBody>
      </p:sp>
      <p:sp>
        <p:nvSpPr>
          <p:cNvPr id="44" name="Text 37"/>
          <p:cNvSpPr/>
          <p:nvPr/>
        </p:nvSpPr>
        <p:spPr>
          <a:xfrm>
            <a:off x="3291840" y="365760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WiFi or mobile data at home?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3291840" y="418795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NFHS-5:</a:t>
            </a:r>
            <a:endParaRPr lang="en-US" sz="1000" dirty="0"/>
          </a:p>
        </p:txBody>
      </p:sp>
      <p:sp>
        <p:nvSpPr>
          <p:cNvPr id="46" name="Text 39"/>
          <p:cNvSpPr/>
          <p:nvPr/>
        </p:nvSpPr>
        <p:spPr>
          <a:xfrm>
            <a:off x="4023360" y="418795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56.78%</a:t>
            </a:r>
            <a:endParaRPr lang="en-US" sz="1300" dirty="0"/>
          </a:p>
        </p:txBody>
      </p:sp>
      <p:sp>
        <p:nvSpPr>
          <p:cNvPr id="47" name="Text 40"/>
          <p:cNvSpPr/>
          <p:nvPr/>
        </p:nvSpPr>
        <p:spPr>
          <a:xfrm>
            <a:off x="4773168" y="41879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G-Form:</a:t>
            </a:r>
            <a:endParaRPr lang="en-US" sz="1000" dirty="0"/>
          </a:p>
        </p:txBody>
      </p:sp>
      <p:sp>
        <p:nvSpPr>
          <p:cNvPr id="48" name="Text 41"/>
          <p:cNvSpPr/>
          <p:nvPr/>
        </p:nvSpPr>
        <p:spPr>
          <a:xfrm>
            <a:off x="5440680" y="418795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57.62%</a:t>
            </a:r>
            <a:endParaRPr lang="en-US" sz="1300" dirty="0"/>
          </a:p>
        </p:txBody>
      </p:sp>
      <p:sp>
        <p:nvSpPr>
          <p:cNvPr id="49" name="Shape 42"/>
          <p:cNvSpPr/>
          <p:nvPr/>
        </p:nvSpPr>
        <p:spPr>
          <a:xfrm>
            <a:off x="6126480" y="3017520"/>
            <a:ext cx="278892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3"/>
          <p:cNvSpPr/>
          <p:nvPr/>
        </p:nvSpPr>
        <p:spPr>
          <a:xfrm>
            <a:off x="6126480" y="3017520"/>
            <a:ext cx="278892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108960"/>
            <a:ext cx="365760" cy="365760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6656832" y="312724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53" name="Text 45"/>
          <p:cNvSpPr/>
          <p:nvPr/>
        </p:nvSpPr>
        <p:spPr>
          <a:xfrm>
            <a:off x="6217920" y="365760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10th standard or above?</a:t>
            </a:r>
            <a:endParaRPr lang="en-US" sz="1000" dirty="0"/>
          </a:p>
        </p:txBody>
      </p:sp>
      <p:sp>
        <p:nvSpPr>
          <p:cNvPr id="54" name="Text 46"/>
          <p:cNvSpPr/>
          <p:nvPr/>
        </p:nvSpPr>
        <p:spPr>
          <a:xfrm>
            <a:off x="6217920" y="418795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NFHS-5:</a:t>
            </a:r>
            <a:endParaRPr lang="en-US" sz="1000" dirty="0"/>
          </a:p>
        </p:txBody>
      </p:sp>
      <p:sp>
        <p:nvSpPr>
          <p:cNvPr id="55" name="Text 47"/>
          <p:cNvSpPr/>
          <p:nvPr/>
        </p:nvSpPr>
        <p:spPr>
          <a:xfrm>
            <a:off x="6949440" y="418795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84.97%</a:t>
            </a:r>
            <a:endParaRPr lang="en-US" sz="1300" dirty="0"/>
          </a:p>
        </p:txBody>
      </p:sp>
      <p:sp>
        <p:nvSpPr>
          <p:cNvPr id="56" name="Text 48"/>
          <p:cNvSpPr/>
          <p:nvPr/>
        </p:nvSpPr>
        <p:spPr>
          <a:xfrm>
            <a:off x="7699248" y="41879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G-Form:</a:t>
            </a:r>
            <a:endParaRPr lang="en-US" sz="1000" dirty="0"/>
          </a:p>
        </p:txBody>
      </p:sp>
      <p:sp>
        <p:nvSpPr>
          <p:cNvPr id="57" name="Text 49"/>
          <p:cNvSpPr/>
          <p:nvPr/>
        </p:nvSpPr>
        <p:spPr>
          <a:xfrm>
            <a:off x="8366760" y="418795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94.05%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— STEP BY STEP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8595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78992"/>
            <a:ext cx="502920" cy="58521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5214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86968" y="113385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66160" y="1152144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NFHS-5 official data (S) + G-Form ground responses (G)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664208"/>
            <a:ext cx="228600" cy="182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74320" y="1728216"/>
            <a:ext cx="8595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1728216"/>
            <a:ext cx="502920" cy="58521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18013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86968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Harmonization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566160" y="1801368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geographic units, time periods (±1yr), handle missing values</a:t>
            </a:r>
            <a:endParaRPr lang="en-US" sz="11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313432"/>
            <a:ext cx="228600" cy="1828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74320" y="2377440"/>
            <a:ext cx="8595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74320" y="2377440"/>
            <a:ext cx="502920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74320" y="245059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886968" y="243230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Normalization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566160" y="245059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X' = (X − Xmin) / (Xmax − Xmin)  → Scale all values to [0, 1]</a:t>
            </a:r>
            <a:endParaRPr lang="en-US" sz="11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962656"/>
            <a:ext cx="228600" cy="18288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274320" y="3026664"/>
            <a:ext cx="8595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74320" y="3026664"/>
            <a:ext cx="502920" cy="5852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74320" y="309981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886968" y="30815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Gap (RG)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3566160" y="3099816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RG(r,i) = |S(r,i) − G(r,i)|  → Per indicator absolute difference</a:t>
            </a:r>
            <a:endParaRPr lang="en-US" sz="11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3611880"/>
            <a:ext cx="228600" cy="18288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274320" y="3675888"/>
            <a:ext cx="8595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274320" y="3675888"/>
            <a:ext cx="502920" cy="58521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274320" y="37490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886968" y="373075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Gap Index (RGI)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3566160" y="37490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RGI(r) = (1/n) Σ RG(r,i)  → Composite score per region</a:t>
            </a:r>
            <a:endParaRPr lang="en-US" sz="11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4261104"/>
            <a:ext cx="228600" cy="18288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274320" y="4325112"/>
            <a:ext cx="8595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274320" y="4325112"/>
            <a:ext cx="502920" cy="58521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274320" y="439826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0"/>
          <p:cNvSpPr/>
          <p:nvPr/>
        </p:nvSpPr>
        <p:spPr>
          <a:xfrm>
            <a:off x="886968" y="437997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Testing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3566160" y="4398264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t-test &amp; Wilcoxon test to check significance of gaps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WORKFLOW DIAGRAM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32004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7899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NFHS-5 Official Data (S)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577840" y="1078992"/>
            <a:ext cx="32004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577840" y="107899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G-Form Ground Data (G)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0" y="1764792"/>
            <a:ext cx="54864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59168" y="1764792"/>
            <a:ext cx="54864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2176272"/>
            <a:ext cx="4572000" cy="566928"/>
          </a:xfrm>
          <a:prstGeom prst="rect">
            <a:avLst/>
          </a:prstGeom>
          <a:solidFill>
            <a:srgbClr val="E0F2FE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86000" y="217627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Harmonization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(Geographic alignment, temporal sync, missing value handling)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44568" y="2743200"/>
            <a:ext cx="54864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0" y="3063240"/>
            <a:ext cx="4572000" cy="5669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86000" y="306324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Normalization  →  X' = (X − Xmin) / (Xmax − Xmin)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44568" y="3630168"/>
            <a:ext cx="54864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3950208"/>
            <a:ext cx="2926080" cy="68580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0" y="395020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Gap (RG)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|S(r,i) − G(r,i)|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3950208"/>
            <a:ext cx="2926080" cy="685800"/>
          </a:xfrm>
          <a:prstGeom prst="rect">
            <a:avLst/>
          </a:prstGeom>
          <a:solidFill>
            <a:srgbClr val="DCFCE7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120640" y="395020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Gap Index (RGI)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(1/n) Σ RG(r,i)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23360" y="4251960"/>
            <a:ext cx="109728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TECHNOLOGY USED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20624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7043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664208"/>
            <a:ext cx="91440" cy="91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184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Forms (G-Form)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956816"/>
            <a:ext cx="91440" cy="91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110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NFHS-5 District Factsheets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249424"/>
            <a:ext cx="91440" cy="91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037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ejalshakti.gov.in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542032"/>
            <a:ext cx="91440" cy="91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96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trai.gov.in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97280"/>
            <a:ext cx="420624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117043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92040" y="1664208"/>
            <a:ext cx="914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16184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1956816"/>
            <a:ext cx="914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19110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— data manipulation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2249424"/>
            <a:ext cx="914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22037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— numerical computing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2542032"/>
            <a:ext cx="914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2496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 — Excel generation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01752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017520"/>
            <a:ext cx="4206240" cy="47548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09067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" y="3584448"/>
            <a:ext cx="91440" cy="914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5387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— t-test &amp; Wilcoxon test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3877056"/>
            <a:ext cx="91440" cy="914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8313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Cronbach's Alpha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1480" y="4169664"/>
            <a:ext cx="91440" cy="914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1239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1480" y="4462272"/>
            <a:ext cx="91440" cy="914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4165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Normalization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301752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017520"/>
            <a:ext cx="4206240" cy="47548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309067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92040" y="3584448"/>
            <a:ext cx="91440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4920" y="35387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— bar &amp; line charts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92040" y="3877056"/>
            <a:ext cx="91440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74920" y="38313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— heatmap plots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92040" y="4169664"/>
            <a:ext cx="91440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74920" y="41239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— formatted reports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92040" y="4462272"/>
            <a:ext cx="91440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74920" y="44165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—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— RELIABILITY GAP ANALYSIS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5156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051560"/>
            <a:ext cx="31089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1051560"/>
            <a:ext cx="3108960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078992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Gap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806440" y="1572768"/>
            <a:ext cx="30175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1682496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81344" y="166420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Sanitation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680960" y="163677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0.57%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806440" y="2093976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220370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81344" y="218541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7680960" y="215798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2.99%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806440" y="2615184"/>
            <a:ext cx="30175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2724912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81344" y="270662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7680960" y="267919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2.04%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806440" y="3136392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3246120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81344" y="322783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7680960" y="32004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1.29%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5806440" y="3657600"/>
            <a:ext cx="30175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0448" y="3767328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181344" y="37490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7680960" y="372160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0.84%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5806440" y="4178808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0448" y="4288536"/>
            <a:ext cx="256032" cy="25603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181344" y="427024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7680960" y="424281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9.08%</a:t>
            </a:r>
            <a:endParaRPr lang="en-US" sz="1400" dirty="0"/>
          </a:p>
        </p:txBody>
      </p:sp>
      <p:sp>
        <p:nvSpPr>
          <p:cNvPr id="32" name="Shape 23"/>
          <p:cNvSpPr/>
          <p:nvPr/>
        </p:nvSpPr>
        <p:spPr>
          <a:xfrm>
            <a:off x="5760720" y="4681728"/>
            <a:ext cx="310896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5760720" y="468172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Overall RGI  =  2.80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1556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significant difference between survey and ground-level indicators.     </a:t>
            </a:r>
            <a:pPr indent="0" marL="0">
              <a:buNone/>
            </a:pPr>
            <a:r>
              <a:rPr lang="en-US" sz="12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Significant difference exists.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2057400"/>
            <a:ext cx="164592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057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20240" y="2057400"/>
            <a:ext cx="137160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20574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057400"/>
            <a:ext cx="118872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0574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2057400"/>
            <a:ext cx="228600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057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2057400"/>
            <a:ext cx="182880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2057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468880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46888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20240" y="2468880"/>
            <a:ext cx="1371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0" y="246888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2468880"/>
            <a:ext cx="1188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246888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80560" y="2468880"/>
            <a:ext cx="22860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246888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Reject H₀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66560" y="2468880"/>
            <a:ext cx="1828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246888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Aligned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2898648"/>
            <a:ext cx="164592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89864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920240" y="2898648"/>
            <a:ext cx="13716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20240" y="289864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91840" y="2898648"/>
            <a:ext cx="118872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2898648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80560" y="2898648"/>
            <a:ext cx="22860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0" y="289864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Reject H₀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66560" y="2898648"/>
            <a:ext cx="18288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289864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Aligned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3328416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328416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920240" y="3328416"/>
            <a:ext cx="1371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20240" y="332841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91840" y="3328416"/>
            <a:ext cx="1188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0" y="3328416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480560" y="3328416"/>
            <a:ext cx="22860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80560" y="3328416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Reject H₀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766560" y="3328416"/>
            <a:ext cx="1828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66560" y="332841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Aligned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3758184"/>
            <a:ext cx="164592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375818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920240" y="3758184"/>
            <a:ext cx="13716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20240" y="375818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291840" y="3758184"/>
            <a:ext cx="118872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91840" y="3758184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480560" y="3758184"/>
            <a:ext cx="22860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80560" y="375818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Reject H₀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766560" y="3758184"/>
            <a:ext cx="18288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66560" y="375818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Aligned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74320" y="4187952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418795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1920240" y="4187952"/>
            <a:ext cx="1371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920240" y="41879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291840" y="4187952"/>
            <a:ext cx="1188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91840" y="418795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480560" y="4187952"/>
            <a:ext cx="22860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480560" y="418795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Reject H₀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766560" y="4187952"/>
            <a:ext cx="1828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66560" y="418795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Aligned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74320" y="4617720"/>
            <a:ext cx="164592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4320" y="461772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1920240" y="4617720"/>
            <a:ext cx="13716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920240" y="461772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2.11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3291840" y="4617720"/>
            <a:ext cx="118872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291840" y="461772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480560" y="4617720"/>
            <a:ext cx="22860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480560" y="461772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6766560" y="4617720"/>
            <a:ext cx="18288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766560" y="461772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Gap Found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274320" y="5029200"/>
            <a:ext cx="8595360" cy="566928"/>
          </a:xfrm>
          <a:prstGeom prst="rect">
            <a:avLst/>
          </a:prstGeom>
          <a:solidFill>
            <a:srgbClr val="ECFDF5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504748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RGI = 2.80  →  Indicates HIGH alignment between NFHS-5 survey data and ground reality in Chengalpattu.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8595360" cy="868680"/>
          </a:xfrm>
          <a:prstGeom prst="rect">
            <a:avLst/>
          </a:prstGeom>
          <a:solidFill>
            <a:srgbClr val="DCFCE7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0759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15214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Indicators — High Alignment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151790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(gap: 2.04%), Water (2.99%), and Nutrition (1.29%) show very low reliability gaps, confirming NFHS-5 accurately captures physical infrastructure in Chengalpattu.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FEF9C3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8600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213055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— Notable Gap (9.08%)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14400" y="249631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G-Form respondents (mostly younger, educated) scored higher than NFHS-5 population data. Reflects demographic sampling difference — not a data quality failure.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74320" y="3035808"/>
            <a:ext cx="8595360" cy="868680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64408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31089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RGI = 2.80 — Strong Reliability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914400" y="347472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RGI below 5 confirms that for Chengalpattu, the large-scale NFHS-5 survey data is a reliable reference for policy and infrastructure planning.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274320" y="4014216"/>
            <a:ext cx="8595360" cy="868680"/>
          </a:xfrm>
          <a:prstGeom prst="rect">
            <a:avLst/>
          </a:prstGeom>
          <a:solidFill>
            <a:srgbClr val="E0E7FF"/>
          </a:solidFill>
          <a:ln w="1905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242816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4400" y="40873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Type Matters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914400" y="445312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infrastructure (electricity, water) aligns better than experiential indicators. Service-quality metrics require additional ground-level validation.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15568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developed a systematic data science framework — the Reliability Gap Index (RGI) — to measure alignment between large-scale survey data (NFHS-5) and ground-level reality (G-Form) across 6 social development indicators in Chengalpattu district, Tamil Nadu.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2606040"/>
            <a:ext cx="438912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606040"/>
            <a:ext cx="438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" y="260604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4261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is indicator-specific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85292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indicators align well; experiential metrics show higher gaps.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3200400"/>
            <a:ext cx="438912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200400"/>
            <a:ext cx="438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3232" y="320040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23697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NFHS-5 is mostly reliable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44728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Chengalpattu, the overall RGI of 2.80 confirms strong data quality.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794760"/>
            <a:ext cx="438912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794760"/>
            <a:ext cx="438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3232" y="379476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83133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validation is essential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404164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well-aligned data benefits from cross-dataset verification.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389120"/>
            <a:ext cx="438912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389120"/>
            <a:ext cx="438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13232" y="438912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42569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is reusable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463600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RGI methodology can be applied to any district or state in India.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78992"/>
            <a:ext cx="50292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42646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17043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Analysis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158191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how the reliability gap changes over multiple NFHS survey rounds (NFHS-4 vs NFHS-5 vs future rounds).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078992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78992"/>
            <a:ext cx="50292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42646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17043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District/Block-Level Expansion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349240" y="158191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this framework to all 38 districts of Tamil Nadu for state-wide reliability mapping.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74320" y="237744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74320" y="2377440"/>
            <a:ext cx="50292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72491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680" y="24688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Data Integration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68680" y="28803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earth observation (EO) + ML to independently validate ground conditions from satellite imagery.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54880" y="237744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377440"/>
            <a:ext cx="50292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72491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49240" y="24688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349240" y="28803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automated dashboard that continuously compares live administrative data with survey estimates.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274320" y="367588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274320" y="3675888"/>
            <a:ext cx="50292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4023360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68680" y="376732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Sample Size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868680" y="417880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G-Form collection to 1000+ responses and include stratified sampling across rural/urban/semi-urban.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754880" y="367588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754880" y="3675888"/>
            <a:ext cx="50292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4023360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349240" y="376732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Indicators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5349240" y="417880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healthcare access, road connectivity, and housing quality as additional reliability gap indicators.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D4F47">
              <a:alpha val="60000"/>
            </a:srgbClr>
          </a:solidFill>
          <a:ln w="12700">
            <a:solidFill>
              <a:srgbClr val="0D4F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D4F47">
              <a:alpha val="50000"/>
            </a:srgbClr>
          </a:solidFill>
          <a:ln w="12700">
            <a:solidFill>
              <a:srgbClr val="0D4F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3200400" y="2359152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8716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Gap Index (RGI) Framework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Chengalpattu District  •  Tamil Nadu  •  SRMIST 2024–25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429000"/>
            <a:ext cx="2560320" cy="594360"/>
          </a:xfrm>
          <a:prstGeom prst="rect">
            <a:avLst/>
          </a:prstGeom>
          <a:solidFill>
            <a:srgbClr val="0D4F47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4290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Jagadish V  •  RA2212704010025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3429000"/>
            <a:ext cx="2560320" cy="594360"/>
          </a:xfrm>
          <a:prstGeom prst="rect">
            <a:avLst/>
          </a:prstGeom>
          <a:solidFill>
            <a:srgbClr val="0D4F47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34290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Rohith S  •  RA2212704010017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3429000"/>
            <a:ext cx="2560320" cy="594360"/>
          </a:xfrm>
          <a:prstGeom prst="rect">
            <a:avLst/>
          </a:prstGeom>
          <a:solidFill>
            <a:srgbClr val="0D4F47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34290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Ananthanarayana M  •  RA2212704010016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2245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— Data Science &amp; Business Systems  |  SRMIST, Kattankulathur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Reliability Gap — Chengalpattu</dc:title>
  <dc:subject>PptxGenJS Presentation</dc:subject>
  <dc:creator>PptxGenJS</dc:creator>
  <cp:lastModifiedBy>PptxGenJS</cp:lastModifiedBy>
  <cp:revision>1</cp:revision>
  <dcterms:created xsi:type="dcterms:W3CDTF">2026-03-11T17:41:52Z</dcterms:created>
  <dcterms:modified xsi:type="dcterms:W3CDTF">2026-03-11T17:41:52Z</dcterms:modified>
</cp:coreProperties>
</file>